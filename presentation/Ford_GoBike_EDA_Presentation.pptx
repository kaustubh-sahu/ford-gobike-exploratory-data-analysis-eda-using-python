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B3D6B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0B3D6B"/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1051560"/>
            <a:ext cx="1371600" cy="1371600"/>
          </a:xfrm>
          <a:prstGeom prst="ellipse">
            <a:avLst/>
          </a:prstGeom>
          <a:solidFill>
            <a:srgbClr val="3E92CC"/>
          </a:solidFill>
          <a:ln/>
        </p:spPr>
      </p:sp>
      <p:pic>
        <p:nvPicPr>
          <p:cNvPr id="5" name="Image 0" descr="/home/claude/icons/bik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1615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974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GOBIKE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Using Python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1371600" y="3913632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D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Study of Bike-Share Ridership, Behaviour &amp; Business Strategy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75208" y="4709160"/>
            <a:ext cx="1592580" cy="868680"/>
          </a:xfrm>
          <a:prstGeom prst="roundRect">
            <a:avLst>
              <a:gd name="adj" fmla="val 8421"/>
            </a:avLst>
          </a:prstGeom>
          <a:solidFill>
            <a:srgbClr val="0B3D6B">
              <a:alpha val="90000"/>
            </a:srgbClr>
          </a:solidFill>
          <a:ln w="9525">
            <a:solidFill>
              <a:srgbClr val="3E92CC"/>
            </a:solidFill>
            <a:prstDash val="solid"/>
          </a:ln>
        </p:spPr>
      </p:sp>
      <p:pic>
        <p:nvPicPr>
          <p:cNvPr id="10" name="Image 1" descr="/home/claude/icons/cpu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050" y="481888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5208" y="5166360"/>
            <a:ext cx="15925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704948" y="4709160"/>
            <a:ext cx="1592580" cy="868680"/>
          </a:xfrm>
          <a:prstGeom prst="roundRect">
            <a:avLst>
              <a:gd name="adj" fmla="val 8421"/>
            </a:avLst>
          </a:prstGeom>
          <a:solidFill>
            <a:srgbClr val="0B3D6B">
              <a:alpha val="90000"/>
            </a:srgbClr>
          </a:solidFill>
          <a:ln w="9525">
            <a:solidFill>
              <a:srgbClr val="3E92CC"/>
            </a:solidFill>
            <a:prstDash val="solid"/>
          </a:ln>
        </p:spPr>
      </p:sp>
      <p:pic>
        <p:nvPicPr>
          <p:cNvPr id="13" name="Image 2" descr="/home/claude/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790" y="481888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04948" y="5166360"/>
            <a:ext cx="15925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434688" y="4709160"/>
            <a:ext cx="1592580" cy="868680"/>
          </a:xfrm>
          <a:prstGeom prst="roundRect">
            <a:avLst>
              <a:gd name="adj" fmla="val 8421"/>
            </a:avLst>
          </a:prstGeom>
          <a:solidFill>
            <a:srgbClr val="0B3D6B">
              <a:alpha val="90000"/>
            </a:srgbClr>
          </a:solidFill>
          <a:ln w="9525">
            <a:solidFill>
              <a:srgbClr val="3E92CC"/>
            </a:solidFill>
            <a:prstDash val="solid"/>
          </a:ln>
        </p:spPr>
      </p:sp>
      <p:pic>
        <p:nvPicPr>
          <p:cNvPr id="16" name="Image 3" descr="/home/claude/icons/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530" y="4818888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34688" y="5166360"/>
            <a:ext cx="15925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164428" y="4709160"/>
            <a:ext cx="1592580" cy="868680"/>
          </a:xfrm>
          <a:prstGeom prst="roundRect">
            <a:avLst>
              <a:gd name="adj" fmla="val 8421"/>
            </a:avLst>
          </a:prstGeom>
          <a:solidFill>
            <a:srgbClr val="0B3D6B">
              <a:alpha val="90000"/>
            </a:srgbClr>
          </a:solidFill>
          <a:ln w="9525">
            <a:solidFill>
              <a:srgbClr val="3E92CC"/>
            </a:solidFill>
            <a:prstDash val="solid"/>
          </a:ln>
        </p:spPr>
      </p:sp>
      <p:pic>
        <p:nvPicPr>
          <p:cNvPr id="19" name="Image 4" descr="/home/claude/icons/cha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5270" y="4818888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64428" y="5166360"/>
            <a:ext cx="15925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7894168" y="4709160"/>
            <a:ext cx="1592580" cy="868680"/>
          </a:xfrm>
          <a:prstGeom prst="roundRect">
            <a:avLst>
              <a:gd name="adj" fmla="val 8421"/>
            </a:avLst>
          </a:prstGeom>
          <a:solidFill>
            <a:srgbClr val="0B3D6B">
              <a:alpha val="90000"/>
            </a:srgbClr>
          </a:solidFill>
          <a:ln w="9525">
            <a:solidFill>
              <a:srgbClr val="3E92CC"/>
            </a:solidFill>
            <a:prstDash val="solid"/>
          </a:ln>
        </p:spPr>
      </p:sp>
      <p:pic>
        <p:nvPicPr>
          <p:cNvPr id="22" name="Image 5" descr="/home/claude/icons/activity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010" y="481888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894168" y="5166360"/>
            <a:ext cx="15925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9623908" y="4709160"/>
            <a:ext cx="1592580" cy="868680"/>
          </a:xfrm>
          <a:prstGeom prst="roundRect">
            <a:avLst>
              <a:gd name="adj" fmla="val 8421"/>
            </a:avLst>
          </a:prstGeom>
          <a:solidFill>
            <a:srgbClr val="0B3D6B">
              <a:alpha val="90000"/>
            </a:srgbClr>
          </a:solidFill>
          <a:ln w="9525">
            <a:solidFill>
              <a:srgbClr val="3E92CC"/>
            </a:solidFill>
            <a:prstDash val="solid"/>
          </a:ln>
        </p:spPr>
      </p:sp>
      <p:pic>
        <p:nvPicPr>
          <p:cNvPr id="25" name="Image 6" descr="/home/claude/icons/fil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750" y="481888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623908" y="5166360"/>
            <a:ext cx="15925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731520" y="598932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731520" y="624535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Kaustubh Sahu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business behind the bike-share data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943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457200" cy="457200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6" name="Image 0" descr="/home/claude/icons/bike_0B3D6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276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Ford GoBike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31520" y="2029968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pioneering bike-share system on the U.S. West Coast, operating a dense network of docking stations across San Francisco and neighbouring cities to enable flexible, short-distance urban travel.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913632"/>
            <a:ext cx="5943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11" name="Image 1" descr="/home/claude/icons/question_0B3D6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41696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4096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1520" y="457200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months of fragmented trip records hold valuable signals on demand, station usage, and rider behaviour — but raw data alone cannot reveal them. This project unifies and analyses that data to expose actionable patterns for smarter operations.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720840" y="13716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720840" y="1810512"/>
            <a:ext cx="128016" cy="128016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6" name="Text 12"/>
          <p:cNvSpPr/>
          <p:nvPr/>
        </p:nvSpPr>
        <p:spPr>
          <a:xfrm>
            <a:off x="6976872" y="170992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riders by user type, age &amp; gender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720840" y="2212848"/>
            <a:ext cx="128016" cy="128016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8" name="Text 14"/>
          <p:cNvSpPr/>
          <p:nvPr/>
        </p:nvSpPr>
        <p:spPr>
          <a:xfrm>
            <a:off x="6976872" y="21122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monthly, weekday &amp; hourly ride patterns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720840" y="2615184"/>
            <a:ext cx="128016" cy="128016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20" name="Text 16"/>
          <p:cNvSpPr/>
          <p:nvPr/>
        </p:nvSpPr>
        <p:spPr>
          <a:xfrm>
            <a:off x="6976872" y="251460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ride duration across customer groups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720840" y="3017520"/>
            <a:ext cx="128016" cy="128016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22" name="Text 18"/>
          <p:cNvSpPr/>
          <p:nvPr/>
        </p:nvSpPr>
        <p:spPr>
          <a:xfrm>
            <a:off x="6976872" y="2916936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start/end stations for planning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720840" y="3419856"/>
            <a:ext cx="128016" cy="128016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24" name="Text 20"/>
          <p:cNvSpPr/>
          <p:nvPr/>
        </p:nvSpPr>
        <p:spPr>
          <a:xfrm>
            <a:off x="6976872" y="3319272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patterns into business recommendations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720840" y="41605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550" dirty="0"/>
          </a:p>
        </p:txBody>
      </p:sp>
      <p:sp>
        <p:nvSpPr>
          <p:cNvPr id="26" name="Shape 22"/>
          <p:cNvSpPr/>
          <p:nvPr/>
        </p:nvSpPr>
        <p:spPr>
          <a:xfrm>
            <a:off x="6720840" y="4572000"/>
            <a:ext cx="1569720" cy="1417320"/>
          </a:xfrm>
          <a:prstGeom prst="roundRect">
            <a:avLst>
              <a:gd name="adj" fmla="val 5161"/>
            </a:avLst>
          </a:prstGeom>
          <a:solidFill>
            <a:srgbClr val="0B3D6B"/>
          </a:solidFill>
          <a:ln/>
        </p:spPr>
      </p:sp>
      <p:sp>
        <p:nvSpPr>
          <p:cNvPr id="27" name="Text 23"/>
          <p:cNvSpPr/>
          <p:nvPr/>
        </p:nvSpPr>
        <p:spPr>
          <a:xfrm>
            <a:off x="6720840" y="4709160"/>
            <a:ext cx="1569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</a:t>
            </a:r>
            <a:endParaRPr lang="en-US" sz="2600" dirty="0"/>
          </a:p>
        </p:txBody>
      </p:sp>
      <p:sp>
        <p:nvSpPr>
          <p:cNvPr id="28" name="Text 24"/>
          <p:cNvSpPr/>
          <p:nvPr/>
        </p:nvSpPr>
        <p:spPr>
          <a:xfrm>
            <a:off x="6720840" y="5349240"/>
            <a:ext cx="1569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Records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8427720" y="4572000"/>
            <a:ext cx="1569720" cy="1417320"/>
          </a:xfrm>
          <a:prstGeom prst="roundRect">
            <a:avLst>
              <a:gd name="adj" fmla="val 5161"/>
            </a:avLst>
          </a:prstGeom>
          <a:solidFill>
            <a:srgbClr val="0B3D6B"/>
          </a:solidFill>
          <a:ln/>
        </p:spPr>
      </p:sp>
      <p:sp>
        <p:nvSpPr>
          <p:cNvPr id="30" name="Text 26"/>
          <p:cNvSpPr/>
          <p:nvPr/>
        </p:nvSpPr>
        <p:spPr>
          <a:xfrm>
            <a:off x="8427720" y="4709160"/>
            <a:ext cx="1569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31" name="Text 27"/>
          <p:cNvSpPr/>
          <p:nvPr/>
        </p:nvSpPr>
        <p:spPr>
          <a:xfrm>
            <a:off x="8427720" y="5349240"/>
            <a:ext cx="1569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Merged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10134600" y="4572000"/>
            <a:ext cx="1569720" cy="1417320"/>
          </a:xfrm>
          <a:prstGeom prst="roundRect">
            <a:avLst>
              <a:gd name="adj" fmla="val 5161"/>
            </a:avLst>
          </a:prstGeom>
          <a:solidFill>
            <a:srgbClr val="0B3D6B"/>
          </a:solidFill>
          <a:ln/>
        </p:spPr>
      </p:sp>
      <p:sp>
        <p:nvSpPr>
          <p:cNvPr id="33" name="Text 29"/>
          <p:cNvSpPr/>
          <p:nvPr/>
        </p:nvSpPr>
        <p:spPr>
          <a:xfrm>
            <a:off x="10134600" y="4709160"/>
            <a:ext cx="1569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</a:t>
            </a:r>
            <a:endParaRPr lang="en-US" sz="2600" dirty="0"/>
          </a:p>
        </p:txBody>
      </p:sp>
      <p:sp>
        <p:nvSpPr>
          <p:cNvPr id="34" name="Text 30"/>
          <p:cNvSpPr/>
          <p:nvPr/>
        </p:nvSpPr>
        <p:spPr>
          <a:xfrm>
            <a:off x="10134600" y="5349240"/>
            <a:ext cx="1569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GoBike Exploratory Data Analysis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Preparation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twelve raw monthly files to one analysis-ready dataset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12268" y="141732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6960" y="1581912"/>
            <a:ext cx="585216" cy="585216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6" name="Image 0" descr="/home/claude/icons/database_0B3D6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7186" y="1652138"/>
            <a:ext cx="444764" cy="444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2268" y="2240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21996" y="2532888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monthly CSV files located via glob</a:t>
            </a:r>
            <a:endParaRPr lang="en-US" sz="980" dirty="0"/>
          </a:p>
        </p:txBody>
      </p:sp>
      <p:pic>
        <p:nvPicPr>
          <p:cNvPr id="9" name="Image 1" descr="/home/claude/icons/arrowRight_0B3D6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024" y="210312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29788" y="141732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94480" y="1581912"/>
            <a:ext cx="585216" cy="585216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12" name="Image 2" descr="/home/claude/icons/merge_0B3D6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06" y="1652138"/>
            <a:ext cx="444764" cy="4447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29788" y="2240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3439516" y="2532888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with pandas.concat into one DataFrame</a:t>
            </a:r>
            <a:endParaRPr lang="en-US" sz="980" dirty="0"/>
          </a:p>
        </p:txBody>
      </p:sp>
      <p:pic>
        <p:nvPicPr>
          <p:cNvPr id="15" name="Image 3" descr="/home/claude/icons/arrowRight_0B3D6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44" y="2103120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47308" y="141732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312000" y="1581912"/>
            <a:ext cx="585216" cy="585216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18" name="Image 4" descr="/home/claude/icons/clean_0B3D6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2226" y="1652138"/>
            <a:ext cx="444764" cy="44476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47308" y="2240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457036" y="2532888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duplicates &amp; invalid values resolved</a:t>
            </a:r>
            <a:endParaRPr lang="en-US" sz="980" dirty="0"/>
          </a:p>
        </p:txBody>
      </p:sp>
      <p:pic>
        <p:nvPicPr>
          <p:cNvPr id="21" name="Image 5" descr="/home/claude/icons/arrowRight_0B3D6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7064" y="2103120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364828" y="141732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10329520" y="1581912"/>
            <a:ext cx="585216" cy="585216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24" name="Image 6" descr="/home/claude/icons/checkCircle_0B3D6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9746" y="1652138"/>
            <a:ext cx="444764" cy="44476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364828" y="2240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9474556" y="2532888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corrected; ready for analysis</a:t>
            </a:r>
            <a:endParaRPr lang="en-US" sz="980" dirty="0"/>
          </a:p>
        </p:txBody>
      </p:sp>
      <p:sp>
        <p:nvSpPr>
          <p:cNvPr id="27" name="Text 18"/>
          <p:cNvSpPr/>
          <p:nvPr/>
        </p:nvSpPr>
        <p:spPr>
          <a:xfrm>
            <a:off x="50292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Summary</a:t>
            </a:r>
            <a:endParaRPr lang="en-US" sz="1550" dirty="0"/>
          </a:p>
        </p:txBody>
      </p:sp>
      <p:sp>
        <p:nvSpPr>
          <p:cNvPr id="28" name="Shape 19"/>
          <p:cNvSpPr/>
          <p:nvPr/>
        </p:nvSpPr>
        <p:spPr>
          <a:xfrm>
            <a:off x="502920" y="3886200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658368" y="388620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2286000" y="38862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missing gender / birth year removed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502920" y="4544568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658368" y="4544568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2286000" y="454456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trip records identified &amp; dropped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502920" y="5202936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658368" y="5202936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Ages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2286000" y="520293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outside a plausible 10–100 range filtered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502920" y="5861304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58368" y="586130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Datatypes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2286000" y="5861304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start_time / end_time parsed as datetime objects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6400800" y="3520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50" dirty="0"/>
          </a:p>
        </p:txBody>
      </p:sp>
      <p:sp>
        <p:nvSpPr>
          <p:cNvPr id="41" name="Shape 32"/>
          <p:cNvSpPr/>
          <p:nvPr/>
        </p:nvSpPr>
        <p:spPr>
          <a:xfrm>
            <a:off x="6400800" y="3886200"/>
            <a:ext cx="5303520" cy="2395728"/>
          </a:xfrm>
          <a:prstGeom prst="roundRect">
            <a:avLst>
              <a:gd name="adj" fmla="val 3053"/>
            </a:avLst>
          </a:prstGeom>
          <a:solidFill>
            <a:srgbClr val="0B3D6B"/>
          </a:solidFill>
          <a:ln/>
        </p:spPr>
      </p:sp>
      <p:sp>
        <p:nvSpPr>
          <p:cNvPr id="42" name="Text 33"/>
          <p:cNvSpPr/>
          <p:nvPr/>
        </p:nvSpPr>
        <p:spPr>
          <a:xfrm>
            <a:off x="6675120" y="41148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unified dataset spanning a full year of operations removes seasonal blind spots and prevents demographic or duration analysis from being skewed by bad data — forming a trustworthy base for every insight that follows.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6675120" y="5623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 rows · 16+ attributes · 1 full year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GoBike Exploratory Data Analysis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timestamps into analysis-ready signals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8884" y="14173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28000"/>
              </a:srgbClr>
            </a:outerShdw>
          </a:effectLst>
        </p:spPr>
      </p:sp>
      <p:pic>
        <p:nvPicPr>
          <p:cNvPr id="5" name="Image 0" descr="/home/claude/icons/file_0B3D6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0696" y="1545336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604" y="19842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pic>
        <p:nvPicPr>
          <p:cNvPr id="7" name="Image 1" descr="/home/claude/icons/arrowRight_3E92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844" y="1783080"/>
            <a:ext cx="256032" cy="2560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90876" y="14173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28000"/>
              </a:srgbClr>
            </a:outerShdw>
          </a:effectLst>
        </p:spPr>
      </p:sp>
      <p:pic>
        <p:nvPicPr>
          <p:cNvPr id="9" name="Image 2" descr="/home/claude/icons/clean_0B3D6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688" y="1545336"/>
            <a:ext cx="402336" cy="4023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936596" y="19842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pic>
        <p:nvPicPr>
          <p:cNvPr id="11" name="Image 3" descr="/home/claude/icons/arrowRight_3E92C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836" y="1783080"/>
            <a:ext cx="256032" cy="25603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112868" y="14173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0B3D6B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28000"/>
              </a:srgbClr>
            </a:outerShdw>
          </a:effectLst>
        </p:spPr>
      </p:sp>
      <p:pic>
        <p:nvPicPr>
          <p:cNvPr id="13" name="Image 4" descr="/home/claude/icons/gea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680" y="1545336"/>
            <a:ext cx="402336" cy="40233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58588" y="19842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pic>
        <p:nvPicPr>
          <p:cNvPr id="15" name="Image 5" descr="/home/claude/icons/arrowRight_3E92C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8828" y="1783080"/>
            <a:ext cx="256032" cy="256032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7334860" y="14173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28000"/>
              </a:srgbClr>
            </a:outerShdw>
          </a:effectLst>
        </p:spPr>
      </p:sp>
      <p:pic>
        <p:nvPicPr>
          <p:cNvPr id="17" name="Image 6" descr="/home/claude/icons/chart_0B3D6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6672" y="1545336"/>
            <a:ext cx="402336" cy="40233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380580" y="19842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</p:txBody>
      </p:sp>
      <p:pic>
        <p:nvPicPr>
          <p:cNvPr id="19" name="Image 7" descr="/home/claude/icons/arrowRight_3E92C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0820" y="1783080"/>
            <a:ext cx="256032" cy="256032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9556852" y="14173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28000"/>
              </a:srgbClr>
            </a:outerShdw>
          </a:effectLst>
        </p:spPr>
      </p:sp>
      <p:pic>
        <p:nvPicPr>
          <p:cNvPr id="21" name="Image 8" descr="/home/claude/icons/award_0B3D6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8664" y="1545336"/>
            <a:ext cx="402336" cy="402336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9602572" y="19842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150" dirty="0"/>
          </a:p>
        </p:txBody>
      </p:sp>
      <p:sp>
        <p:nvSpPr>
          <p:cNvPr id="23" name="Text 12"/>
          <p:cNvSpPr/>
          <p:nvPr/>
        </p:nvSpPr>
        <p:spPr>
          <a:xfrm>
            <a:off x="50292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550" dirty="0"/>
          </a:p>
        </p:txBody>
      </p:sp>
      <p:sp>
        <p:nvSpPr>
          <p:cNvPr id="24" name="Shape 13"/>
          <p:cNvSpPr/>
          <p:nvPr/>
        </p:nvSpPr>
        <p:spPr>
          <a:xfrm>
            <a:off x="289408" y="3200400"/>
            <a:ext cx="2212848" cy="2651760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25" name="Shape 14"/>
          <p:cNvSpPr/>
          <p:nvPr/>
        </p:nvSpPr>
        <p:spPr>
          <a:xfrm>
            <a:off x="1139800" y="3401568"/>
            <a:ext cx="512064" cy="512064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26" name="Image 9" descr="/home/claude/icons/calendar_0B3D6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1247" y="3463016"/>
            <a:ext cx="389169" cy="389169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362560" y="40233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ride_month</a:t>
            </a:r>
            <a:endParaRPr lang="en-US" sz="1150" dirty="0"/>
          </a:p>
        </p:txBody>
      </p:sp>
      <p:sp>
        <p:nvSpPr>
          <p:cNvPr id="28" name="Text 16"/>
          <p:cNvSpPr/>
          <p:nvPr/>
        </p:nvSpPr>
        <p:spPr>
          <a:xfrm>
            <a:off x="417424" y="4434840"/>
            <a:ext cx="19568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month — reveals seasonal ridership swings</a:t>
            </a:r>
            <a:endParaRPr lang="en-US" sz="1000" dirty="0"/>
          </a:p>
        </p:txBody>
      </p:sp>
      <p:sp>
        <p:nvSpPr>
          <p:cNvPr id="29" name="Shape 17"/>
          <p:cNvSpPr/>
          <p:nvPr/>
        </p:nvSpPr>
        <p:spPr>
          <a:xfrm>
            <a:off x="2639416" y="3200400"/>
            <a:ext cx="2212848" cy="2651760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30" name="Shape 18"/>
          <p:cNvSpPr/>
          <p:nvPr/>
        </p:nvSpPr>
        <p:spPr>
          <a:xfrm>
            <a:off x="3489808" y="3401568"/>
            <a:ext cx="512064" cy="512064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31" name="Image 10" descr="/home/claude/icons/activity_0B3D6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1255" y="3463016"/>
            <a:ext cx="389169" cy="389169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2712568" y="40233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ride_day</a:t>
            </a:r>
            <a:endParaRPr lang="en-US" sz="1150" dirty="0"/>
          </a:p>
        </p:txBody>
      </p:sp>
      <p:sp>
        <p:nvSpPr>
          <p:cNvPr id="33" name="Text 20"/>
          <p:cNvSpPr/>
          <p:nvPr/>
        </p:nvSpPr>
        <p:spPr>
          <a:xfrm>
            <a:off x="2767432" y="4434840"/>
            <a:ext cx="19568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— compares weekday vs. weekend usage</a:t>
            </a:r>
            <a:endParaRPr lang="en-US" sz="1000" dirty="0"/>
          </a:p>
        </p:txBody>
      </p:sp>
      <p:sp>
        <p:nvSpPr>
          <p:cNvPr id="34" name="Shape 21"/>
          <p:cNvSpPr/>
          <p:nvPr/>
        </p:nvSpPr>
        <p:spPr>
          <a:xfrm>
            <a:off x="4989424" y="3200400"/>
            <a:ext cx="2212848" cy="2651760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35" name="Shape 22"/>
          <p:cNvSpPr/>
          <p:nvPr/>
        </p:nvSpPr>
        <p:spPr>
          <a:xfrm>
            <a:off x="5839816" y="3401568"/>
            <a:ext cx="512064" cy="512064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36" name="Image 11" descr="/home/claude/icons/clock_0B3D6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1263" y="3463016"/>
            <a:ext cx="389169" cy="389169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5062576" y="40233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ride_hour</a:t>
            </a:r>
            <a:endParaRPr lang="en-US" sz="1150" dirty="0"/>
          </a:p>
        </p:txBody>
      </p:sp>
      <p:sp>
        <p:nvSpPr>
          <p:cNvPr id="38" name="Text 24"/>
          <p:cNvSpPr/>
          <p:nvPr/>
        </p:nvSpPr>
        <p:spPr>
          <a:xfrm>
            <a:off x="5117440" y="4434840"/>
            <a:ext cx="19568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— exposes morning/evening commute peaks</a:t>
            </a:r>
            <a:endParaRPr lang="en-US" sz="1000" dirty="0"/>
          </a:p>
        </p:txBody>
      </p:sp>
      <p:sp>
        <p:nvSpPr>
          <p:cNvPr id="39" name="Shape 25"/>
          <p:cNvSpPr/>
          <p:nvPr/>
        </p:nvSpPr>
        <p:spPr>
          <a:xfrm>
            <a:off x="7339432" y="3200400"/>
            <a:ext cx="2212848" cy="2651760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40" name="Shape 26"/>
          <p:cNvSpPr/>
          <p:nvPr/>
        </p:nvSpPr>
        <p:spPr>
          <a:xfrm>
            <a:off x="8189824" y="3401568"/>
            <a:ext cx="512064" cy="512064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41" name="Image 12" descr="/home/claude/icons/users_0B3D6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1271" y="3463016"/>
            <a:ext cx="389169" cy="389169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7412584" y="40233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43" name="Text 28"/>
          <p:cNvSpPr/>
          <p:nvPr/>
        </p:nvSpPr>
        <p:spPr>
          <a:xfrm>
            <a:off x="7467448" y="4434840"/>
            <a:ext cx="19568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birth year — powers demographic analysis</a:t>
            </a:r>
            <a:endParaRPr lang="en-US" sz="1000" dirty="0"/>
          </a:p>
        </p:txBody>
      </p:sp>
      <p:sp>
        <p:nvSpPr>
          <p:cNvPr id="44" name="Shape 29"/>
          <p:cNvSpPr/>
          <p:nvPr/>
        </p:nvSpPr>
        <p:spPr>
          <a:xfrm>
            <a:off x="9689440" y="3200400"/>
            <a:ext cx="2212848" cy="2651760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45" name="Shape 30"/>
          <p:cNvSpPr/>
          <p:nvPr/>
        </p:nvSpPr>
        <p:spPr>
          <a:xfrm>
            <a:off x="10539832" y="3401568"/>
            <a:ext cx="512064" cy="512064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46" name="Image 13" descr="/home/claude/icons/timer_0B3D6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01279" y="3463016"/>
            <a:ext cx="389169" cy="389169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9762592" y="40233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ride_duration_min</a:t>
            </a:r>
            <a:endParaRPr lang="en-US" sz="1150" dirty="0"/>
          </a:p>
        </p:txBody>
      </p:sp>
      <p:sp>
        <p:nvSpPr>
          <p:cNvPr id="48" name="Text 32"/>
          <p:cNvSpPr/>
          <p:nvPr/>
        </p:nvSpPr>
        <p:spPr>
          <a:xfrm>
            <a:off x="9817456" y="4434840"/>
            <a:ext cx="19568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converted to minutes — intuitive trip length</a:t>
            </a:r>
            <a:endParaRPr lang="en-US" sz="1000" dirty="0"/>
          </a:p>
        </p:txBody>
      </p:sp>
      <p:sp>
        <p:nvSpPr>
          <p:cNvPr id="49" name="Text 3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GoBike Exploratory Data Analysis</a:t>
            </a:r>
            <a:endParaRPr lang="en-US" sz="900" dirty="0"/>
          </a:p>
        </p:txBody>
      </p:sp>
      <p:sp>
        <p:nvSpPr>
          <p:cNvPr id="50" name="Text 34"/>
          <p:cNvSpPr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rides, and when — examined one variable at a time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423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pic>
        <p:nvPicPr>
          <p:cNvPr id="5" name="Image 0" descr="/home/claude/charts/chart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59" y="1371600"/>
            <a:ext cx="1984282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63240" y="1325880"/>
            <a:ext cx="109728" cy="109728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7" name="Text 4"/>
          <p:cNvSpPr/>
          <p:nvPr/>
        </p:nvSpPr>
        <p:spPr>
          <a:xfrm>
            <a:off x="3264408" y="118872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make up 88.5% of all rides — a stable, commuter-driven base.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280160"/>
            <a:ext cx="2423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pic>
        <p:nvPicPr>
          <p:cNvPr id="9" name="Image 1" descr="/home/claude/charts/chart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59" y="1371600"/>
            <a:ext cx="1984282" cy="2057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778240" y="1325880"/>
            <a:ext cx="109728" cy="109728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1" name="Text 7"/>
          <p:cNvSpPr/>
          <p:nvPr/>
        </p:nvSpPr>
        <p:spPr>
          <a:xfrm>
            <a:off x="8979408" y="118872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skew heavily male (73.5%) — a clear inclusion opportunity.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749040"/>
            <a:ext cx="2423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pic>
        <p:nvPicPr>
          <p:cNvPr id="13" name="Image 2" descr="/home/claude/charts/chart_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58195"/>
            <a:ext cx="2240280" cy="122197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063240" y="3794760"/>
            <a:ext cx="109728" cy="109728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5" name="Text 10"/>
          <p:cNvSpPr/>
          <p:nvPr/>
        </p:nvSpPr>
        <p:spPr>
          <a:xfrm>
            <a:off x="3264408" y="365760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riders are 25–35 — target messaging for working professionals.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17920" y="3749040"/>
            <a:ext cx="2423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pic>
        <p:nvPicPr>
          <p:cNvPr id="17" name="Image 3" descr="/home/claude/charts/chart_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320540"/>
            <a:ext cx="2240280" cy="10972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778240" y="3794760"/>
            <a:ext cx="109728" cy="109728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9" name="Text 13"/>
          <p:cNvSpPr/>
          <p:nvPr/>
        </p:nvSpPr>
        <p:spPr>
          <a:xfrm>
            <a:off x="8979408" y="365760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 peaks Jun–Oct — scale fleet ahead of the warm season.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GoBike Exploratory Data Analysis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Pattern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rides happen and how long they last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5400000">
              <a:srgbClr val="9FB6C7">
                <a:alpha val="35000"/>
              </a:srgbClr>
            </a:outerShdw>
          </a:effectLst>
        </p:spPr>
      </p:sp>
      <p:pic>
        <p:nvPicPr>
          <p:cNvPr id="5" name="Image 0" descr="/home/claude/charts/chart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3090" y="1417320"/>
            <a:ext cx="2766060" cy="1508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94436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Ride Distribution — peaks on Tuesday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72200" y="132588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5400000">
              <a:srgbClr val="9FB6C7">
                <a:alpha val="35000"/>
              </a:srgbClr>
            </a:outerShdw>
          </a:effectLst>
        </p:spPr>
      </p:sp>
      <p:pic>
        <p:nvPicPr>
          <p:cNvPr id="8" name="Image 1" descr="/home/claude/charts/chart_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208" y="1417320"/>
            <a:ext cx="3080385" cy="1508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3640" y="294436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Ride Distribution — bimodal 8 AM / 5 PM peaks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3493008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5400000">
              <a:srgbClr val="9FB6C7">
                <a:alpha val="35000"/>
              </a:srgbClr>
            </a:outerShdw>
          </a:effectLst>
        </p:spPr>
      </p:sp>
      <p:pic>
        <p:nvPicPr>
          <p:cNvPr id="11" name="Image 2" descr="/home/claude/charts/chart_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090" y="3584448"/>
            <a:ext cx="2766060" cy="1508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4360" y="511149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Duration — most trips under 15 minutes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172200" y="3493008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5400000">
              <a:srgbClr val="9FB6C7">
                <a:alpha val="35000"/>
              </a:srgbClr>
            </a:outerShdw>
          </a:effectLst>
        </p:spPr>
      </p:sp>
      <p:pic>
        <p:nvPicPr>
          <p:cNvPr id="14" name="Image 3" descr="/home/claude/charts/chart_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855129"/>
            <a:ext cx="5266944" cy="9673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3640" y="511149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Boxplot — long-tail outliers beyond 1,000 min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518008" y="56235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B3D6B"/>
          </a:solidFill>
          <a:ln/>
        </p:spPr>
      </p:sp>
      <p:sp>
        <p:nvSpPr>
          <p:cNvPr id="17" name="Text 11"/>
          <p:cNvSpPr/>
          <p:nvPr/>
        </p:nvSpPr>
        <p:spPr>
          <a:xfrm>
            <a:off x="655168" y="5623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2666848" y="56235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312768" y="56235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B3D6B"/>
          </a:solidFill>
          <a:ln/>
        </p:spPr>
      </p:sp>
      <p:sp>
        <p:nvSpPr>
          <p:cNvPr id="20" name="Text 14"/>
          <p:cNvSpPr/>
          <p:nvPr/>
        </p:nvSpPr>
        <p:spPr>
          <a:xfrm>
            <a:off x="4449928" y="5623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AM &amp; 5 PM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461608" y="56235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107528" y="56235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B3D6B"/>
          </a:solidFill>
          <a:ln/>
        </p:spPr>
      </p:sp>
      <p:sp>
        <p:nvSpPr>
          <p:cNvPr id="23" name="Text 17"/>
          <p:cNvSpPr/>
          <p:nvPr/>
        </p:nvSpPr>
        <p:spPr>
          <a:xfrm>
            <a:off x="8244688" y="5623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min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0256368" y="56235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Duration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GoBike Exploratory Data Analysis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&amp; Customer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rides begin and end, and how behaviour differs by rider group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4160520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5400000">
              <a:srgbClr val="9FB6C7">
                <a:alpha val="35000"/>
              </a:srgbClr>
            </a:outerShdw>
          </a:effectLst>
        </p:spPr>
      </p:sp>
      <p:pic>
        <p:nvPicPr>
          <p:cNvPr id="5" name="Image 0" descr="/home/claude/charts/chart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81" y="1371600"/>
            <a:ext cx="3630799" cy="2148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5387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Start Stations — transit hubs dominate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800600" y="1280160"/>
            <a:ext cx="4160520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5400000">
              <a:srgbClr val="9FB6C7">
                <a:alpha val="35000"/>
              </a:srgbClr>
            </a:outerShdw>
          </a:effectLst>
        </p:spPr>
      </p:sp>
      <p:pic>
        <p:nvPicPr>
          <p:cNvPr id="8" name="Image 1" descr="/home/claude/charts/chart_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373" y="1371600"/>
            <a:ext cx="3636973" cy="2148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92040" y="35387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End Stations — same hubs, two-way gateways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9144000" y="1280160"/>
            <a:ext cx="2542032" cy="2606040"/>
          </a:xfrm>
          <a:prstGeom prst="roundRect">
            <a:avLst>
              <a:gd name="adj" fmla="val 2878"/>
            </a:avLst>
          </a:prstGeom>
          <a:solidFill>
            <a:srgbClr val="0B3D6B"/>
          </a:solidFill>
          <a:ln/>
        </p:spPr>
      </p:sp>
      <p:sp>
        <p:nvSpPr>
          <p:cNvPr id="11" name="Shape 7"/>
          <p:cNvSpPr/>
          <p:nvPr/>
        </p:nvSpPr>
        <p:spPr>
          <a:xfrm>
            <a:off x="9363456" y="1463040"/>
            <a:ext cx="457200" cy="457200"/>
          </a:xfrm>
          <a:prstGeom prst="ellipse">
            <a:avLst/>
          </a:prstGeom>
          <a:solidFill>
            <a:srgbClr val="3E92CC"/>
          </a:solidFill>
          <a:ln/>
        </p:spPr>
      </p:sp>
      <p:pic>
        <p:nvPicPr>
          <p:cNvPr id="12" name="Image 2" descr="/home/claude/icons/mapp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51790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63456" y="2057400"/>
            <a:ext cx="212140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Caltrain Station 2 tops both rankings — confirming Ford GoBike's role as a first-and-last-mile transit connector.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2920" y="4041648"/>
            <a:ext cx="3840480" cy="2359152"/>
          </a:xfrm>
          <a:prstGeom prst="roundRect">
            <a:avLst>
              <a:gd name="adj" fmla="val 2713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5400000">
              <a:srgbClr val="9FB6C7">
                <a:alpha val="35000"/>
              </a:srgbClr>
            </a:outerShdw>
          </a:effectLst>
        </p:spPr>
      </p:sp>
      <p:pic>
        <p:nvPicPr>
          <p:cNvPr id="15" name="Image 3" descr="/home/claude/charts/chart_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44" y="4133088"/>
            <a:ext cx="2694432" cy="19019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4360" y="60533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 vs Duration — Subscribers ride tighter &amp; shorter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480560" y="4041648"/>
            <a:ext cx="3840480" cy="2359152"/>
          </a:xfrm>
          <a:prstGeom prst="roundRect">
            <a:avLst>
              <a:gd name="adj" fmla="val 2713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5400000">
              <a:srgbClr val="9FB6C7">
                <a:alpha val="35000"/>
              </a:srgbClr>
            </a:outerShdw>
          </a:effectLst>
        </p:spPr>
      </p:sp>
      <p:pic>
        <p:nvPicPr>
          <p:cNvPr id="18" name="Image 4" descr="/home/claude/charts/chart_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584" y="4133088"/>
            <a:ext cx="2694432" cy="19019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72000" y="60533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vs Duration — shape is consistent across genders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8458200" y="4041648"/>
            <a:ext cx="3227832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686800" y="4187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686800" y="4553712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behaviour differs by user type (Subscribers = efficient commuters) far more than by gender — pricing should target usage pattern, not demographic.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GoBike Exploratory Data Analysis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Multivariate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variables move together?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74904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5400000">
              <a:srgbClr val="9FB6C7">
                <a:alpha val="35000"/>
              </a:srgbClr>
            </a:outerShdw>
          </a:effectLst>
        </p:spPr>
      </p:sp>
      <p:pic>
        <p:nvPicPr>
          <p:cNvPr id="5" name="Image 0" descr="/home/claude/charts/chart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428574"/>
            <a:ext cx="3529584" cy="21720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6758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Duration — weak relationship overall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434840" y="1280160"/>
            <a:ext cx="374904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5400000">
              <a:srgbClr val="9FB6C7">
                <a:alpha val="35000"/>
              </a:srgbClr>
            </a:outerShdw>
          </a:effectLst>
        </p:spPr>
      </p:sp>
      <p:pic>
        <p:nvPicPr>
          <p:cNvPr id="8" name="Image 1" descr="/home/claude/charts/chart_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498" y="1371600"/>
            <a:ext cx="3021724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26280" y="36758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most variables weakly linked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366760" y="128016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5400000">
              <a:srgbClr val="9FB6C7">
                <a:alpha val="35000"/>
              </a:srgbClr>
            </a:outerShdw>
          </a:effectLst>
        </p:spPr>
      </p:sp>
      <p:pic>
        <p:nvPicPr>
          <p:cNvPr id="11" name="Image 2" descr="/home/claude/charts/chart_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396" y="1371600"/>
            <a:ext cx="2286000" cy="2286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58200" y="3675888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 — confirms independence of key variables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02920" y="4251960"/>
            <a:ext cx="11183112" cy="1783080"/>
          </a:xfrm>
          <a:prstGeom prst="roundRect">
            <a:avLst>
              <a:gd name="adj" fmla="val 4103"/>
            </a:avLst>
          </a:prstGeom>
          <a:solidFill>
            <a:srgbClr val="0B3D6B"/>
          </a:solidFill>
          <a:ln/>
        </p:spPr>
      </p:sp>
      <p:sp>
        <p:nvSpPr>
          <p:cNvPr id="14" name="Text 9"/>
          <p:cNvSpPr/>
          <p:nvPr/>
        </p:nvSpPr>
        <p:spPr>
          <a:xfrm>
            <a:off x="777240" y="4434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77240" y="4773168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structurally expected links (station latitude/longitude, and age with birth year), nearly all variables show weak or negligible correlation with one another. Ride duration is not strongly explained by age, hour, or station alone — pointing to unmeasured factors like trip purpose and route choice, and motivating richer data collection for future predictive modelling.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GoBike Exploratory Data Analysis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Ford GoBike about its riders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13436" y="141732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4604" y="1618488"/>
            <a:ext cx="530352" cy="530352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6" name="Image 0" descr="/home/claude/icons/users_0B3D6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246" y="1682130"/>
            <a:ext cx="403068" cy="4030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2116" y="161848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Subscriber-Anchored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4604" y="2286000"/>
            <a:ext cx="32095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account for 88.5% of all rides, anchoring recurring revenue.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89908" y="141732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1076" y="1618488"/>
            <a:ext cx="530352" cy="530352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11" name="Image 1" descr="/home/claude/icons/activity_0B3D6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718" y="1682130"/>
            <a:ext cx="403068" cy="4030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58588" y="161848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Commuting Drives Demand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91076" y="2286000"/>
            <a:ext cx="32095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volume dwarfs weekends — usage is work-trip driven.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66380" y="141732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67548" y="1618488"/>
            <a:ext cx="530352" cy="530352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16" name="Image 2" descr="/home/claude/icons/compass_0B3D6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190" y="1682130"/>
            <a:ext cx="403068" cy="4030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35060" y="161848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67548" y="2286000"/>
            <a:ext cx="32095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aged 25–35 form the single largest demographic group.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13436" y="374904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4604" y="3950208"/>
            <a:ext cx="530352" cy="530352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21" name="Image 3" descr="/home/claude/icons/clock_0B3D6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46" y="4013850"/>
            <a:ext cx="403068" cy="4030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2116" y="395020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Daily Peaks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4604" y="4617720"/>
            <a:ext cx="32095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demand at 8 AM and 5 PM signals classic commuter behaviour.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89908" y="374904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91076" y="3950208"/>
            <a:ext cx="530352" cy="530352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26" name="Image 4" descr="/home/claude/icons/mappin_0B3D6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4718" y="4013850"/>
            <a:ext cx="403068" cy="4030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58588" y="395020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Hubs Rule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91076" y="4617720"/>
            <a:ext cx="32095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Caltrain, BART &amp; Ferry-adjacent stations drive the busiest activity.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66380" y="374904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67548" y="3950208"/>
            <a:ext cx="530352" cy="530352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31" name="Image 5" descr="/home/claude/icons/timer_0B3D6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190" y="4013850"/>
            <a:ext cx="403068" cy="4030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35060" y="395020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&amp; Efficient Trips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67548" y="4617720"/>
            <a:ext cx="32095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vast majority of rides are completed in under 15 minutes.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GoBike Exploratory Data Analysis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operational and growth strategy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5148" y="13716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9740" y="1737360"/>
            <a:ext cx="658368" cy="658368"/>
          </a:xfrm>
          <a:prstGeom prst="ellipse">
            <a:avLst/>
          </a:prstGeom>
          <a:solidFill>
            <a:srgbClr val="0B3D6B"/>
          </a:solidFill>
          <a:ln/>
        </p:spPr>
      </p:sp>
      <p:pic>
        <p:nvPicPr>
          <p:cNvPr id="6" name="Image 0" descr="/home/claude/icons/tru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744" y="1816364"/>
            <a:ext cx="500360" cy="50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5268" y="151790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Redistribution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55268" y="19202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 bikes toward high-demand stations before AM/PM peaks.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3716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0460" y="1737360"/>
            <a:ext cx="658368" cy="658368"/>
          </a:xfrm>
          <a:prstGeom prst="ellipse">
            <a:avLst/>
          </a:prstGeom>
          <a:solidFill>
            <a:srgbClr val="0B3D6B"/>
          </a:solidFill>
          <a:ln/>
        </p:spPr>
      </p:sp>
      <p:pic>
        <p:nvPicPr>
          <p:cNvPr id="11" name="Image 1" descr="/home/claude/icons/za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464" y="1816364"/>
            <a:ext cx="500360" cy="500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15988" y="151790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Bike Allocation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15988" y="19202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fleet size seasonally, up for spring/summer, down in winter.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95148" y="29718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9740" y="3337560"/>
            <a:ext cx="658368" cy="658368"/>
          </a:xfrm>
          <a:prstGeom prst="ellipse">
            <a:avLst/>
          </a:prstGeom>
          <a:solidFill>
            <a:srgbClr val="0B3D6B"/>
          </a:solidFill>
          <a:ln/>
        </p:spPr>
      </p:sp>
      <p:pic>
        <p:nvPicPr>
          <p:cNvPr id="16" name="Image 2" descr="/home/claude/icons/megaphon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44" y="3416564"/>
            <a:ext cx="500360" cy="500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55268" y="311810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Promotions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55268" y="35204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leisure-oriented pricing to lift quiet weekend utilisation.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29718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0460" y="3337560"/>
            <a:ext cx="658368" cy="658368"/>
          </a:xfrm>
          <a:prstGeom prst="ellipse">
            <a:avLst/>
          </a:prstGeom>
          <a:solidFill>
            <a:srgbClr val="0B3D6B"/>
          </a:solidFill>
          <a:ln/>
        </p:spPr>
      </p:sp>
      <p:pic>
        <p:nvPicPr>
          <p:cNvPr id="21" name="Image 3" descr="/home/claude/icons/funne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464" y="3416564"/>
            <a:ext cx="500360" cy="500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15988" y="311810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Conversion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15988" y="35204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referral &amp; loyalty offers to convert Customers into Subscribers.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95148" y="45720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9740" y="4937760"/>
            <a:ext cx="658368" cy="658368"/>
          </a:xfrm>
          <a:prstGeom prst="ellipse">
            <a:avLst/>
          </a:prstGeom>
          <a:solidFill>
            <a:srgbClr val="0B3D6B"/>
          </a:solidFill>
          <a:ln/>
        </p:spPr>
      </p:sp>
      <p:pic>
        <p:nvPicPr>
          <p:cNvPr id="26" name="Image 4" descr="/home/claude/icons/trendlin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44" y="5016764"/>
            <a:ext cx="500360" cy="5003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55268" y="471830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Forecasting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455268" y="51206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demand models using weather, events &amp; transit context.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55868" y="45720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20460" y="4937760"/>
            <a:ext cx="658368" cy="658368"/>
          </a:xfrm>
          <a:prstGeom prst="ellipse">
            <a:avLst/>
          </a:prstGeom>
          <a:solidFill>
            <a:srgbClr val="0B3D6B"/>
          </a:solidFill>
          <a:ln/>
        </p:spPr>
      </p:sp>
      <p:pic>
        <p:nvPicPr>
          <p:cNvPr id="31" name="Image 5" descr="/home/claude/icons/building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464" y="5016764"/>
            <a:ext cx="500360" cy="5003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15988" y="471830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Capacity Optimisation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215988" y="51206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docks at consistently high-traffic transit-adjacent hubs.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GoBike Exploratory Data Analysis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exploratory findings to a forward-looking analytics roadmap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394960" cy="4526280"/>
          </a:xfrm>
          <a:prstGeom prst="roundRect">
            <a:avLst>
              <a:gd name="adj" fmla="val 1818"/>
            </a:avLst>
          </a:prstGeom>
          <a:solidFill>
            <a:srgbClr val="0B3D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361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year of Ford GoBike trip data was integrated, cleaned, enriched, and explored end-to-end — converting 2M+ raw records into a coherent, decision-ready view of ridership.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Findings</a:t>
            </a:r>
            <a:endParaRPr lang="en-US" sz="1350" dirty="0"/>
          </a:p>
        </p:txBody>
      </p:sp>
      <p:pic>
        <p:nvPicPr>
          <p:cNvPr id="8" name="Image 0" descr="/home/claude/icons/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15468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1089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Subscriber-driven, commuter-oriented service</a:t>
            </a:r>
            <a:endParaRPr lang="en-US" sz="1150" dirty="0"/>
          </a:p>
        </p:txBody>
      </p:sp>
      <p:pic>
        <p:nvPicPr>
          <p:cNvPr id="10" name="Image 1" descr="/home/claude/icons/check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53872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49300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sharp daily peaks around 8 AM &amp; 5 PM</a:t>
            </a:r>
            <a:endParaRPr lang="en-US" sz="1150" dirty="0"/>
          </a:p>
        </p:txBody>
      </p:sp>
      <p:pic>
        <p:nvPicPr>
          <p:cNvPr id="12" name="Image 2" descr="/home/claude/icons/checkCirc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92277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87705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concentrated at transit-hub stations</a:t>
            </a:r>
            <a:endParaRPr lang="en-US" sz="1150" dirty="0"/>
          </a:p>
        </p:txBody>
      </p:sp>
      <p:pic>
        <p:nvPicPr>
          <p:cNvPr id="14" name="Image 3" descr="/home/claude/icons/check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0682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426110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duration mostly short; outliers need monitoring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777240" y="4754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777240" y="510235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large operational dataset into a genuine decision-support resource for fleet planning, customer growth, and strategic investment.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263640" y="1325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263640" y="178308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09944" y="1929384"/>
            <a:ext cx="457200" cy="457200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21" name="Image 4" descr="/home/claude/icons/brain_0B3D6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98424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9944" y="2441448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409944" y="26974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for station-level demand</a:t>
            </a:r>
            <a:endParaRPr lang="en-US" sz="980" dirty="0"/>
          </a:p>
        </p:txBody>
      </p:sp>
      <p:sp>
        <p:nvSpPr>
          <p:cNvPr id="24" name="Shape 17"/>
          <p:cNvSpPr/>
          <p:nvPr/>
        </p:nvSpPr>
        <p:spPr>
          <a:xfrm>
            <a:off x="9079992" y="178308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9226296" y="1929384"/>
            <a:ext cx="457200" cy="457200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26" name="Image 5" descr="/home/claude/icons/trendline_0B3D6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984248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226296" y="2441448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9226296" y="26974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weather, events &amp; transit schedules</a:t>
            </a:r>
            <a:endParaRPr lang="en-US" sz="980" dirty="0"/>
          </a:p>
        </p:txBody>
      </p:sp>
      <p:sp>
        <p:nvSpPr>
          <p:cNvPr id="29" name="Shape 21"/>
          <p:cNvSpPr/>
          <p:nvPr/>
        </p:nvSpPr>
        <p:spPr>
          <a:xfrm>
            <a:off x="6263640" y="338328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409944" y="3529584"/>
            <a:ext cx="457200" cy="457200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31" name="Image 6" descr="/home/claude/icons/users_0B3D6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3584448"/>
            <a:ext cx="347472" cy="34747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409944" y="4041648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6409944" y="42976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riders into nuanced behavioural personas</a:t>
            </a:r>
            <a:endParaRPr lang="en-US" sz="980" dirty="0"/>
          </a:p>
        </p:txBody>
      </p:sp>
      <p:sp>
        <p:nvSpPr>
          <p:cNvPr id="34" name="Shape 25"/>
          <p:cNvSpPr/>
          <p:nvPr/>
        </p:nvSpPr>
        <p:spPr>
          <a:xfrm>
            <a:off x="9079992" y="338328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63500" dist="25400" dir="5400000">
              <a:srgbClr val="9FB6C7">
                <a:alpha val="30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9226296" y="3529584"/>
            <a:ext cx="457200" cy="457200"/>
          </a:xfrm>
          <a:prstGeom prst="ellipse">
            <a:avLst/>
          </a:prstGeom>
          <a:solidFill>
            <a:srgbClr val="D7E8F7"/>
          </a:solidFill>
          <a:ln/>
        </p:spPr>
      </p:sp>
      <p:pic>
        <p:nvPicPr>
          <p:cNvPr id="36" name="Image 7" descr="/home/claude/icons/dashboard_0B3D6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3584448"/>
            <a:ext cx="347472" cy="3474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226296" y="4041648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9226296" y="42976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Power BI monitoring for operations</a:t>
            </a:r>
            <a:endParaRPr lang="en-US" sz="980" dirty="0"/>
          </a:p>
        </p:txBody>
      </p:sp>
      <p:sp>
        <p:nvSpPr>
          <p:cNvPr id="39" name="Shape 29"/>
          <p:cNvSpPr/>
          <p:nvPr/>
        </p:nvSpPr>
        <p:spPr>
          <a:xfrm>
            <a:off x="6263640" y="4983480"/>
            <a:ext cx="5404104" cy="1417320"/>
          </a:xfrm>
          <a:prstGeom prst="roundRect">
            <a:avLst>
              <a:gd name="adj" fmla="val 5806"/>
            </a:avLst>
          </a:prstGeom>
          <a:solidFill>
            <a:srgbClr val="0B3D6B"/>
          </a:solidFill>
          <a:ln/>
        </p:spPr>
      </p:sp>
      <p:sp>
        <p:nvSpPr>
          <p:cNvPr id="40" name="Shape 30"/>
          <p:cNvSpPr/>
          <p:nvPr/>
        </p:nvSpPr>
        <p:spPr>
          <a:xfrm>
            <a:off x="6409944" y="5129784"/>
            <a:ext cx="457200" cy="457200"/>
          </a:xfrm>
          <a:prstGeom prst="ellipse">
            <a:avLst/>
          </a:prstGeom>
          <a:solidFill>
            <a:srgbClr val="3E92CC"/>
          </a:solidFill>
          <a:ln/>
        </p:spPr>
      </p:sp>
      <p:pic>
        <p:nvPicPr>
          <p:cNvPr id="41" name="Image 8" descr="/home/claude/icons/radar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4808" y="5184648"/>
            <a:ext cx="347472" cy="34747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409944" y="5641848"/>
            <a:ext cx="5111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200" dirty="0"/>
          </a:p>
        </p:txBody>
      </p:sp>
      <p:sp>
        <p:nvSpPr>
          <p:cNvPr id="43" name="Text 32"/>
          <p:cNvSpPr/>
          <p:nvPr/>
        </p:nvSpPr>
        <p:spPr>
          <a:xfrm>
            <a:off x="6409944" y="5897880"/>
            <a:ext cx="5111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D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reactive to proactive demand shaping</a:t>
            </a:r>
            <a:endParaRPr lang="en-US" sz="980" dirty="0"/>
          </a:p>
        </p:txBody>
      </p:sp>
      <p:sp>
        <p:nvSpPr>
          <p:cNvPr id="44" name="Text 3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GoBike Exploratory Data Analysis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206240"/>
            <a:ext cx="4572000" cy="4572000"/>
          </a:xfrm>
          <a:prstGeom prst="ellipse">
            <a:avLst/>
          </a:prstGeom>
          <a:solidFill>
            <a:srgbClr val="0B3D6B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4206240" cy="4206240"/>
          </a:xfrm>
          <a:prstGeom prst="ellipse">
            <a:avLst/>
          </a:prstGeom>
          <a:solidFill>
            <a:srgbClr val="0B3D6B"/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1417320"/>
            <a:ext cx="1371600" cy="1371600"/>
          </a:xfrm>
          <a:prstGeom prst="ellipse">
            <a:avLst/>
          </a:prstGeom>
          <a:solidFill>
            <a:srgbClr val="3E92CC"/>
          </a:solidFill>
          <a:ln/>
        </p:spPr>
      </p:sp>
      <p:pic>
        <p:nvPicPr>
          <p:cNvPr id="5" name="Image 0" descr="/home/claude/icons/bik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8191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06324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507492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533095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Kaustubh Sahu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2026-07-24T08:31:47Z</dcterms:created>
  <dcterms:modified xsi:type="dcterms:W3CDTF">2026-07-24T08:31:47Z</dcterms:modified>
</cp:coreProperties>
</file>